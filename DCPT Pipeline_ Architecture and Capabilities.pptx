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361777"/>
            <a:ext cx="8229600" cy="24199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361777"/>
            <a:ext cx="5295891" cy="241994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742950" y="1745949"/>
            <a:ext cx="4724391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DCPT PIPELINE: ARCHITECTURE AND CAPABILITIES</a:t>
            </a:r>
            <a:endParaRPr lang="en-US" sz="3294" dirty="0"/>
          </a:p>
        </p:txBody>
      </p:sp>
      <p:sp>
        <p:nvSpPr>
          <p:cNvPr id="6" name="Shape 3"/>
          <p:cNvSpPr/>
          <p:nvPr/>
        </p:nvSpPr>
        <p:spPr>
          <a:xfrm>
            <a:off x="5753091" y="1361777"/>
            <a:ext cx="2933709" cy="2419945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4"/>
          <p:cNvSpPr/>
          <p:nvPr/>
        </p:nvSpPr>
        <p:spPr>
          <a:xfrm>
            <a:off x="5753091" y="1603772"/>
            <a:ext cx="14288" cy="19359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6038841" y="1647527"/>
            <a:ext cx="2362209" cy="1312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Degradation Classification Pre-Training for Valuation and Defect Classification</a:t>
            </a:r>
            <a:endParaRPr lang="en-US" sz="1704" dirty="0"/>
          </a:p>
        </p:txBody>
      </p:sp>
      <p:sp>
        <p:nvSpPr>
          <p:cNvPr id="9" name="Text 6"/>
          <p:cNvSpPr/>
          <p:nvPr/>
        </p:nvSpPr>
        <p:spPr>
          <a:xfrm>
            <a:off x="6038841" y="3067348"/>
            <a:ext cx="23622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Presented by: Manus AI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38841" y="3281660"/>
            <a:ext cx="23622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Date: April 1,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1323408"/>
            <a:ext cx="8801100" cy="2496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609158"/>
            <a:ext cx="382190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TO THE DCPT PIPELINE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57200" y="2277098"/>
            <a:ext cx="38219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DCPT?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57200" y="2548561"/>
            <a:ext cx="3821906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Degradation Classification Pre-Training (DCPT) pipeline is a robust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framework designed for the </a:t>
            </a: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valuation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defect classification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of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collectible cards. It leverages a novel graph neural network architecture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enhanced with </a:t>
            </a: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node-specific attention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topological data analysis (TDA)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superior performance and scientific rigor.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864894" y="1609158"/>
            <a:ext cx="382190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TASKS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007769" y="2014565"/>
            <a:ext cx="36790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Valuation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Accurately predicting the market value of collectible cards.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007769" y="2256002"/>
            <a:ext cx="36790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Defect Classification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Identifying and categorizing various degradation types present on card images.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1088222"/>
            <a:ext cx="8801100" cy="29670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3972"/>
            <a:ext cx="382190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NODE-SPECIFIC ATTENTION MECHANISM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57200" y="2041913"/>
            <a:ext cx="38219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Granular Feature Learning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57200" y="2313375"/>
            <a:ext cx="38219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DCPT model employs a unique </a:t>
            </a: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node-specific attention mechanism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where each node possesses its own set of projection matrices. This allows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highly granular and context-aware feature transformations.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864894" y="1373972"/>
            <a:ext cx="382190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COMPONENTS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007769" y="1779380"/>
            <a:ext cx="36790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Projection Matrices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$W_Q[i], W_K[i], W_V[i], W_O[i], W_{ff}[i]$ for each node $i$.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007769" y="2264039"/>
            <a:ext cx="160650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Attention Coefficient Formula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614275" y="2264039"/>
            <a:ext cx="317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007769" y="2575127"/>
            <a:ext cx="3679031" cy="574346"/>
          </a:xfrm>
          <a:prstGeom prst="rect">
            <a:avLst/>
          </a:prstGeom>
          <a:solidFill>
            <a:srgbClr val="E6EEF5"/>
          </a:solidFill>
          <a:ln/>
        </p:spPr>
      </p:sp>
      <p:sp>
        <p:nvSpPr>
          <p:cNvPr id="12" name="Shape 9"/>
          <p:cNvSpPr/>
          <p:nvPr/>
        </p:nvSpPr>
        <p:spPr>
          <a:xfrm>
            <a:off x="5007769" y="2575127"/>
            <a:ext cx="35719" cy="57434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5007769" y="2575127"/>
            <a:ext cx="3679031" cy="57434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$\alpha_{ij} = \text{softmax}_j(\text{LeakyReLU}(W_{Q,i} h_i \cdot W_{K,i} h_j)) \cdot \sigma(5 \cdot T_j^*)$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007769" y="3149473"/>
            <a:ext cx="36790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formula highlights how attention between nodes $i$ and $j$ is computed based on their latent features ($h_i, h_j$) and modulated by a topological descriptor ($T_j^*$).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2875"/>
            <a:ext cx="349965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TDA-MODULATED ATTENTION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50056" y="507206"/>
            <a:ext cx="8243888" cy="4129088"/>
          </a:xfrm>
          <a:prstGeom prst="rect">
            <a:avLst/>
          </a:prstGeom>
          <a:solidFill>
            <a:srgbClr val="FFFFFF"/>
          </a:solidFill>
          <a:ln w="9144">
            <a:solidFill>
              <a:srgbClr val="CCD6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514350"/>
            <a:ext cx="4100513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814388" y="942975"/>
            <a:ext cx="3386138" cy="12680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814388" y="942975"/>
            <a:ext cx="3386138" cy="126802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STRUCTURAL AWARENESS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814388" y="1126927"/>
            <a:ext cx="33861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ENHANCING FEATURE FOCUS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814388" y="1462683"/>
            <a:ext cx="338613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attention coefficients are dynamically adjusted using a sigmoid function of topological descriptors. This mechanism prioritizes structurally significant regions identified through Topological Data Analysis (TDA).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814388" y="2337011"/>
            <a:ext cx="338613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modulating the attention scores, the model becomes highly sensitive to subtle yet critical topological changes that are often indicative of defects or value-influencing characteristics in card data.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557713" y="514350"/>
            <a:ext cx="4129088" cy="41148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Shape 9"/>
          <p:cNvSpPr/>
          <p:nvPr/>
        </p:nvSpPr>
        <p:spPr>
          <a:xfrm>
            <a:off x="4557713" y="514350"/>
            <a:ext cx="28575" cy="41148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3" name="Text 10"/>
          <p:cNvSpPr/>
          <p:nvPr/>
        </p:nvSpPr>
        <p:spPr>
          <a:xfrm>
            <a:off x="4929188" y="970936"/>
            <a:ext cx="76195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ROLE OF T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691141" y="1024514"/>
            <a:ext cx="6621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18" b="1" baseline="-40000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</a:t>
            </a:r>
            <a:endParaRPr lang="en-US" sz="818" dirty="0"/>
          </a:p>
        </p:txBody>
      </p:sp>
      <p:sp>
        <p:nvSpPr>
          <p:cNvPr id="15" name="Text 12"/>
          <p:cNvSpPr/>
          <p:nvPr/>
        </p:nvSpPr>
        <p:spPr>
          <a:xfrm>
            <a:off x="5757360" y="944761"/>
            <a:ext cx="4635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18" b="1" baseline="30000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*</a:t>
            </a:r>
            <a:endParaRPr lang="en-US" sz="818" dirty="0"/>
          </a:p>
        </p:txBody>
      </p:sp>
      <p:sp>
        <p:nvSpPr>
          <p:cNvPr id="16" name="Shape 13"/>
          <p:cNvSpPr/>
          <p:nvPr/>
        </p:nvSpPr>
        <p:spPr>
          <a:xfrm>
            <a:off x="4929188" y="1387060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4929188" y="1329910"/>
            <a:ext cx="3400425" cy="26431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Topological Descriptor: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Quantifies the topological complexity or persistence of features for each node in the graph.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929188" y="1765678"/>
            <a:ext cx="57150" cy="571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5100638" y="1730546"/>
            <a:ext cx="106726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Modulation: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6167903" y="1730546"/>
            <a:ext cx="8623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term σ(5 · T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7030231" y="1774831"/>
            <a:ext cx="2118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91" baseline="-40000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</a:t>
            </a:r>
            <a:endParaRPr lang="en-US" sz="691" dirty="0"/>
          </a:p>
        </p:txBody>
      </p:sp>
      <p:sp>
        <p:nvSpPr>
          <p:cNvPr id="22" name="Text 19"/>
          <p:cNvSpPr/>
          <p:nvPr/>
        </p:nvSpPr>
        <p:spPr>
          <a:xfrm>
            <a:off x="7051411" y="1710314"/>
            <a:ext cx="3708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91" baseline="30000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*</a:t>
            </a:r>
            <a:endParaRPr lang="en-US" sz="691" dirty="0"/>
          </a:p>
        </p:txBody>
      </p:sp>
      <p:sp>
        <p:nvSpPr>
          <p:cNvPr id="23" name="Text 20"/>
          <p:cNvSpPr/>
          <p:nvPr/>
        </p:nvSpPr>
        <p:spPr>
          <a:xfrm>
            <a:off x="5100638" y="1730546"/>
            <a:ext cx="3030624" cy="413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 acts as a gating mechanism, scaling the attention weight based on structural importance.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4929188" y="2332044"/>
            <a:ext cx="3400425" cy="80043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5" name="Shape 22"/>
          <p:cNvSpPr/>
          <p:nvPr/>
        </p:nvSpPr>
        <p:spPr>
          <a:xfrm>
            <a:off x="4929188" y="2332044"/>
            <a:ext cx="42863" cy="80043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3"/>
          <p:cNvSpPr/>
          <p:nvPr/>
        </p:nvSpPr>
        <p:spPr>
          <a:xfrm>
            <a:off x="5072063" y="2474919"/>
            <a:ext cx="1063554" cy="12680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/>
          <p:nvPr/>
        </p:nvSpPr>
        <p:spPr>
          <a:xfrm>
            <a:off x="5072063" y="2474919"/>
            <a:ext cx="1063554" cy="126802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MODULATION FACTOR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5940503" y="2766027"/>
            <a:ext cx="10539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α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6045901" y="2827083"/>
            <a:ext cx="7939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baseline="-40000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ij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6125291" y="2766027"/>
            <a:ext cx="104058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∝ ... · σ(5 · T</a:t>
            </a:r>
            <a:endParaRPr lang="en-US" sz="1193" dirty="0"/>
          </a:p>
        </p:txBody>
      </p:sp>
      <p:sp>
        <p:nvSpPr>
          <p:cNvPr id="31" name="Text 28"/>
          <p:cNvSpPr/>
          <p:nvPr/>
        </p:nvSpPr>
        <p:spPr>
          <a:xfrm>
            <a:off x="7165879" y="2827083"/>
            <a:ext cx="3970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baseline="-40000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7205588" y="2732094"/>
            <a:ext cx="5561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baseline="30000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*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7261203" y="2766027"/>
            <a:ext cx="5709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4929188" y="3275354"/>
            <a:ext cx="34004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scaling ensures that nodes with high topological significance receive greater focus during the aggregation phase.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1481" y="421481"/>
            <a:ext cx="8301038" cy="4300538"/>
          </a:xfrm>
          <a:prstGeom prst="rect">
            <a:avLst/>
          </a:prstGeom>
          <a:solidFill>
            <a:srgbClr val="FFFFFF"/>
          </a:solidFill>
          <a:ln w="9144">
            <a:solidFill>
              <a:srgbClr val="CCD6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57250" y="857250"/>
            <a:ext cx="342185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MULTI-TASK LEARNING FOR COMPREHENSIVE ANALYSIS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857250" y="1691618"/>
            <a:ext cx="34218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SIMULTANEOUS OPTIMIZATION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857250" y="1998799"/>
            <a:ext cx="3421856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DCPT pipeline is engineered for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multi-task learning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enabling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to simultaneously optimize for both valuation and defect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classification. This architecture facilitates shared feature learning,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underlying graph representations benefit from both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regression and classification gradients.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857250" y="3313137"/>
            <a:ext cx="3421856" cy="760028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8" name="Text 5"/>
          <p:cNvSpPr/>
          <p:nvPr/>
        </p:nvSpPr>
        <p:spPr>
          <a:xfrm>
            <a:off x="1000125" y="3456012"/>
            <a:ext cx="31361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Holistic Understanding: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Shared representations ensure that 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topological features relevant to defects also inform the final 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valuation.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864894" y="857250"/>
            <a:ext cx="34218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TASK-SPECIFIC HEADS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036344" y="1521619"/>
            <a:ext cx="3250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Valuation Head (Regression)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036344" y="1739503"/>
            <a:ext cx="32504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dedicated regression branch that predicts the continuous market value of collectible cards based on aggregated node features and topological descriptors.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036344" y="2713844"/>
            <a:ext cx="3250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Classification Head (Multi-class)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036344" y="2931728"/>
            <a:ext cx="32504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multi-class classification branch that identifies and categorizes specific degradation types, ensuring the model is sensitive to physical condition.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864894" y="3906069"/>
            <a:ext cx="342185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i="1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 Note: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Both heads branch from a unified flattened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representation of the node-specific attention output, ensuring a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compact yet expressive model.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6253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TDA OPTIMIZATION STRATEGIES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42938" y="1119783"/>
            <a:ext cx="2328863" cy="230386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1119783"/>
            <a:ext cx="2328863" cy="2303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STORAGE LAYER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642938" y="1421606"/>
            <a:ext cx="23288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TDACACHEMANAGER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42938" y="1728788"/>
            <a:ext cx="23288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Manages persistence diagrams and topological signatures to eliminate redundant computations.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642938" y="2420252"/>
            <a:ext cx="2328863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42938" y="2420252"/>
            <a:ext cx="2328863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750094" y="2563127"/>
            <a:ext cx="2114550" cy="2321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SHA-256 data hashing for unique identification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750094" y="2866737"/>
            <a:ext cx="2114550" cy="2321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LRU eviction policy for disk space management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750094" y="3170346"/>
            <a:ext cx="2114550" cy="11608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Persistent .npy storage for rapid retrieval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750094" y="2563127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50094" y="2866737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750094" y="3170346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3407569" y="1119783"/>
            <a:ext cx="2328863" cy="230386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7" name="Text 14"/>
          <p:cNvSpPr/>
          <p:nvPr/>
        </p:nvSpPr>
        <p:spPr>
          <a:xfrm>
            <a:off x="3407569" y="1119783"/>
            <a:ext cx="2328863" cy="2303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 LAYER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3407569" y="1421606"/>
            <a:ext cx="23288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TDAAPPROXIMATOR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3407569" y="1728788"/>
            <a:ext cx="23288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Balances speed and accuracy through statistical proxies and data subsampling techniques.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3407569" y="2420252"/>
            <a:ext cx="2328863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3407569" y="2420252"/>
            <a:ext cx="2328863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19"/>
          <p:cNvSpPr/>
          <p:nvPr/>
        </p:nvSpPr>
        <p:spPr>
          <a:xfrm>
            <a:off x="3514725" y="2563127"/>
            <a:ext cx="2114550" cy="2321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Statistical moment analysis as topological proxies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3514725" y="2866737"/>
            <a:ext cx="2114550" cy="2321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sampling ratios based on patch complexity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3514725" y="3170346"/>
            <a:ext cx="2114550" cy="2321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Hybrid computation: Full TDA vs. Approximation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3514725" y="2563127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3514725" y="2866737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3514725" y="3170346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6172200" y="1119783"/>
            <a:ext cx="2328863" cy="230386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9" name="Text 26"/>
          <p:cNvSpPr/>
          <p:nvPr/>
        </p:nvSpPr>
        <p:spPr>
          <a:xfrm>
            <a:off x="6172200" y="1119783"/>
            <a:ext cx="2328863" cy="2303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LAYER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6172200" y="1421606"/>
            <a:ext cx="23288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TDAGPUACCELERATOR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6172200" y="1728788"/>
            <a:ext cx="23288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Leverages CUDA-enabled hardware to offload heavy homology computations.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6172200" y="2237389"/>
            <a:ext cx="2328863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6172200" y="2237389"/>
            <a:ext cx="2328863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1"/>
          <p:cNvSpPr/>
          <p:nvPr/>
        </p:nvSpPr>
        <p:spPr>
          <a:xfrm>
            <a:off x="6279356" y="2380264"/>
            <a:ext cx="2114550" cy="11608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 with Ripser-plus-plus backends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6279356" y="2567787"/>
            <a:ext cx="2114550" cy="11608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Parallelized Vietoris-Rips filtration building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6279356" y="2755311"/>
            <a:ext cx="2114550" cy="2321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Significant speedup for high-dimensional data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6279356" y="2380264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6279356" y="2567787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6279356" y="2755311"/>
            <a:ext cx="100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14350"/>
            <a:ext cx="82296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742950" y="942975"/>
            <a:ext cx="3536156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SCIENTIFIC FIRST PRINCIPLES &amp; ROBUSTNESS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742950" y="1777343"/>
            <a:ext cx="35361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GROUNDING IN THEORY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742950" y="2084524"/>
            <a:ext cx="353615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DCPT pipeline is built upon rigorous scientific foundations,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grounding its attention mechanism in the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topological complexity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of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data. By utilizing persistent homology, the model identifies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structurally significant features that traditional GNNs often overlook.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42950" y="2958852"/>
            <a:ext cx="35361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approach ensures that the model's internal representations are physically meaningful and robust to noise, following a "first principles" methodology in feature engineering.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864894" y="942975"/>
            <a:ext cx="35361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BPDA GATE LOGIC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864894" y="1250156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 backpropagation fails when encountering hard, non-differentiable thresholds used in topological filtering.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864894" y="1901633"/>
            <a:ext cx="3536156" cy="164306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1" name="Text 8"/>
          <p:cNvSpPr/>
          <p:nvPr/>
        </p:nvSpPr>
        <p:spPr>
          <a:xfrm>
            <a:off x="5043488" y="2115945"/>
            <a:ext cx="31789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ADVERSARIAL LIE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043488" y="2369548"/>
            <a:ext cx="317896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BPDA (Bypass Differentiable Approximation)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gate solves 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by "lying" during the backward pass. While the forward 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 is a strict threshold, the backward pass approximates the 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derivative as an 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Function</a:t>
            </a:r>
            <a:r>
              <a:rPr lang="en-US" sz="834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043488" y="3243876"/>
            <a:ext cx="3178969" cy="18573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5043488" y="3243876"/>
            <a:ext cx="3178969" cy="185738"/>
          </a:xfrm>
          <a:prstGeom prst="rect">
            <a:avLst/>
          </a:prstGeom>
          <a:noFill/>
          <a:ln/>
        </p:spPr>
        <p:txBody>
          <a:bodyPr wrap="square" lIns="85090" tIns="8509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grad_V = grad_output.clone()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864894" y="3687570"/>
            <a:ext cx="35361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allows gradients to flow through concrete walls, enabling the optimization of non-differentiable topological boundaries.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794" y="600075"/>
            <a:ext cx="7872413" cy="3943350"/>
          </a:xfrm>
          <a:prstGeom prst="rect">
            <a:avLst/>
          </a:prstGeom>
          <a:solidFill>
            <a:srgbClr val="FFFFFF"/>
          </a:solidFill>
          <a:ln w="9144">
            <a:solidFill>
              <a:srgbClr val="CCD6E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0125" y="1035844"/>
            <a:ext cx="1751000" cy="33397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1107281"/>
            <a:ext cx="160812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000125" y="1584127"/>
            <a:ext cx="32075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SUMMARY OF STRENGTHS</a:t>
            </a:r>
            <a:endParaRPr lang="en-US" sz="98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034183"/>
            <a:ext cx="100013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294" y="1998464"/>
            <a:ext cx="3000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Innovative Architecture: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Combines node-specific attention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TDA for granular, structurally-aware feature learning.</a:t>
            </a:r>
            <a:endParaRPr lang="en-US" sz="83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552774"/>
            <a:ext cx="125016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2297" y="2517056"/>
            <a:ext cx="297537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Multi-Task Efficiency: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Jointly optimizes valuation and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defect classification, capturing holistic card properties.</a:t>
            </a:r>
            <a:endParaRPr lang="en-US" sz="83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071366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07294" y="3035647"/>
            <a:ext cx="3000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Scientific Rigor: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Grounded in first principles with robust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handling of non-differentiable operations via BPDA logic.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4936331" y="1035844"/>
            <a:ext cx="1112751" cy="33397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4" name="Text 8"/>
          <p:cNvSpPr/>
          <p:nvPr/>
        </p:nvSpPr>
        <p:spPr>
          <a:xfrm>
            <a:off x="5079206" y="1107281"/>
            <a:ext cx="96987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0F4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</a:t>
            </a:r>
            <a:endParaRPr lang="en-US" sz="1602" dirty="0"/>
          </a:p>
        </p:txBody>
      </p:sp>
      <p:sp>
        <p:nvSpPr>
          <p:cNvPr id="15" name="Text 9"/>
          <p:cNvSpPr/>
          <p:nvPr/>
        </p:nvSpPr>
        <p:spPr>
          <a:xfrm>
            <a:off x="4936331" y="1584127"/>
            <a:ext cx="32075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DIRECTIONS</a:t>
            </a:r>
            <a:endParaRPr lang="en-US" sz="98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331" y="2034183"/>
            <a:ext cx="75009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18497" y="1998464"/>
            <a:ext cx="302537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Acceleration: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Full integration of GPU-accelerated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TDA libraries to minimize computation latency.</a:t>
            </a:r>
            <a:endParaRPr lang="en-US" sz="834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331" y="2552774"/>
            <a:ext cx="112514" cy="100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56002" y="2517056"/>
            <a:ext cx="298787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Descriptors: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Exploration of higher-dimensional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persistence features for deeper defect analysis.</a:t>
            </a:r>
            <a:endParaRPr lang="en-US" sz="834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331" y="3071366"/>
            <a:ext cx="87511" cy="1000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30998" y="3035647"/>
            <a:ext cx="301287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Domain Expansion: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Adapting the DCPT framework for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other high-value asset classes requiring fine-grained graph 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analysis.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1481" y="421481"/>
            <a:ext cx="8301038" cy="4300538"/>
          </a:xfrm>
          <a:prstGeom prst="rect">
            <a:avLst/>
          </a:prstGeom>
          <a:solidFill>
            <a:srgbClr val="FFFFFF"/>
          </a:solidFill>
          <a:ln w="9144">
            <a:solidFill>
              <a:srgbClr val="CCD6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0125" y="2042582"/>
            <a:ext cx="3207544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000125" y="2688366"/>
            <a:ext cx="3207544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000125" y="3522399"/>
            <a:ext cx="32075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Manus AI | DCPT Pipeline Project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000125" y="3668846"/>
            <a:ext cx="32075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April 2026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936331" y="857250"/>
            <a:ext cx="1047927" cy="22860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02A4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936331" y="1300163"/>
            <a:ext cx="3207544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DCPT Pipeline Production Deployment Guide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Internal Technical Documentation, 2026.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936331" y="1854473"/>
            <a:ext cx="3207544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Node-Specific Attention and BPDA Gate Logic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Custom Research Specifications, 2026.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936331" y="2408783"/>
            <a:ext cx="3207544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Topological Data Analysis in Graph Neural Networks</a:t>
            </a:r>
            <a:r>
              <a:rPr lang="en-US" sz="834" dirty="0">
                <a:solidFill>
                  <a:srgbClr val="334E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Scientific First Principles Framework, 2026.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793456" y="1300163"/>
            <a:ext cx="139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[1]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793456" y="1854473"/>
            <a:ext cx="139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[2]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793456" y="2408783"/>
            <a:ext cx="139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[3]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2026-04-01T05:00:57Z</dcterms:created>
  <dcterms:modified xsi:type="dcterms:W3CDTF">2026-04-01T05:00:57Z</dcterms:modified>
</cp:coreProperties>
</file>